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3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6" r:id="rId5"/>
    <p:sldMasterId id="2147483658" r:id="rId6"/>
    <p:sldMasterId id="2147483661" r:id="rId7"/>
    <p:sldMasterId id="2147483664" r:id="rId8"/>
    <p:sldMasterId id="2147483666" r:id="rId9"/>
    <p:sldMasterId id="2147483669" r:id="rId10"/>
  </p:sldMasterIdLst>
  <p:sldIdLst>
    <p:sldId id="256" r:id="rId11"/>
    <p:sldId id="257" r:id="rId12"/>
    <p:sldId id="258" r:id="rId13"/>
    <p:sldId id="259" r:id="rId14"/>
    <p:sldId id="260" r:id="rId1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4764EA-4D28-415D-B2EA-51ED55D0A3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B5891B-3A26-49A2-A139-CB2DC64E37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58F794-2FC1-4043-8AD3-C052608A7B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9B803B-1067-4184-B5C5-4D4656E2BB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223092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66880" y="2160000"/>
            <a:ext cx="223092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6BCCD3-F50B-4864-BA59-9480F1F95F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14C9DEF-C55C-4B16-AB56-583E795D13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5986B35-89CA-4939-ADE3-2FA33FCCAD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E6BE4F5-5465-4196-B4C6-338E7A0066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1AAC902-0186-457A-91FF-A50621F266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7ABF2E7-6EDD-456E-990E-E4D77A17CA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B63D743-FE8E-43EE-9C75-E59F774C5E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9C470CA-32FE-4953-AAD8-7B8C8B4989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223092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66880" y="2160000"/>
            <a:ext cx="2230920" cy="92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266880" y="3175560"/>
            <a:ext cx="2230920" cy="92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C3AD6F1-E77A-4C8B-98D8-690026DD2D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6A56A2B-B3F0-40C9-82DE-B9671D6858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slideLayout" Target="../slideLayouts/slideLayout11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13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4114800"/>
            <a:ext cx="7020000" cy="14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lstStyle>
            <a:lvl1pPr indent="0" algn="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"/>
          </p:nvPr>
        </p:nvSpPr>
        <p:spPr>
          <a:xfrm>
            <a:off x="7740000" y="4860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2"/>
          </p:nvPr>
        </p:nvSpPr>
        <p:spPr>
          <a:xfrm>
            <a:off x="7740000" y="4392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3"/>
          </p:nvPr>
        </p:nvSpPr>
        <p:spPr>
          <a:xfrm>
            <a:off x="7740000" y="5166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119D069-41D6-453E-B24C-FE798049B4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"/>
          <p:cNvGrpSpPr/>
          <p:nvPr/>
        </p:nvGrpSpPr>
        <p:grpSpPr>
          <a:xfrm>
            <a:off x="8540280" y="5065920"/>
            <a:ext cx="1280160" cy="548640"/>
            <a:chOff x="8540280" y="5065920"/>
            <a:chExt cx="1280160" cy="548640"/>
          </a:xfrm>
        </p:grpSpPr>
        <p:sp>
          <p:nvSpPr>
            <p:cNvPr id="33" name=""/>
            <p:cNvSpPr/>
            <p:nvPr/>
          </p:nvSpPr>
          <p:spPr>
            <a:xfrm flipV="1" rot="21598800">
              <a:off x="9637560" y="543168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 flipV="1" rot="21598800">
              <a:off x="9271800" y="543168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 flipV="1" rot="21598800">
              <a:off x="8906400" y="543168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V="1" rot="21598800">
              <a:off x="8540280" y="543168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V="1" rot="21598800">
              <a:off x="8540280" y="506592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 flipV="1" rot="21598800">
              <a:off x="8906400" y="50659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 flipV="1" rot="21598800">
              <a:off x="9271800" y="50662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 flipV="1" rot="21598800">
              <a:off x="9637560" y="506592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1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2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3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4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2C5D9F1-D34C-42F5-944D-D5FB88BC140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53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9" name=""/>
          <p:cNvGrpSpPr/>
          <p:nvPr/>
        </p:nvGrpSpPr>
        <p:grpSpPr>
          <a:xfrm>
            <a:off x="274320" y="-2103120"/>
            <a:ext cx="5943600" cy="7406640"/>
            <a:chOff x="274320" y="-2103120"/>
            <a:chExt cx="5943600" cy="7406640"/>
          </a:xfrm>
        </p:grpSpPr>
        <p:sp>
          <p:nvSpPr>
            <p:cNvPr id="60" name=""/>
            <p:cNvSpPr/>
            <p:nvPr/>
          </p:nvSpPr>
          <p:spPr>
            <a:xfrm>
              <a:off x="1463040" y="-1554480"/>
              <a:ext cx="457200" cy="2560320"/>
            </a:xfrm>
            <a:prstGeom prst="rect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640080" y="-365760"/>
              <a:ext cx="457200" cy="2560320"/>
            </a:xfrm>
            <a:prstGeom prst="rect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2194560" y="-2103120"/>
              <a:ext cx="457200" cy="2560320"/>
            </a:xfrm>
            <a:prstGeom prst="rect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274320" y="18288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22960" y="36576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274320" y="548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3474720" y="2560320"/>
              <a:ext cx="2743200" cy="274320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914400" y="2835000"/>
              <a:ext cx="91440" cy="16459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06982092-64D1-4351-9308-67DABAA35A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8"/>
    <p:sldLayoutId id="2147483655" r:id="rId9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0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3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6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95B0CED-B680-4905-92C0-A68508A3F5C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5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6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7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8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9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4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09ACD5C-AC6A-4192-99EF-26052D7D46D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3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4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5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v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35C22B54-FDFC-49EA-8C02-BF887534845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"/>
          <p:cNvGrpSpPr/>
          <p:nvPr/>
        </p:nvGrpSpPr>
        <p:grpSpPr>
          <a:xfrm>
            <a:off x="2982960" y="1548000"/>
            <a:ext cx="5982480" cy="3326040"/>
            <a:chOff x="2982960" y="1548000"/>
            <a:chExt cx="5982480" cy="3326040"/>
          </a:xfrm>
        </p:grpSpPr>
        <p:sp>
          <p:nvSpPr>
            <p:cNvPr id="130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tIns="54000" rIns="99000" bIns="54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 txBox="1"/>
            <p:nvPr/>
          </p:nvSpPr>
          <p:spPr>
            <a:xfrm>
              <a:off x="3844800" y="154800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 txBox="1"/>
            <p:nvPr/>
          </p:nvSpPr>
          <p:spPr>
            <a:xfrm>
              <a:off x="7868160" y="339984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>
              <a:spAutoFit/>
            </a:bodyPr>
            <a:p>
              <a:r>
                <a:rPr lang="en-US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lang="en-US" sz="80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35" name=""/>
          <p:cNvGrpSpPr/>
          <p:nvPr/>
        </p:nvGrpSpPr>
        <p:grpSpPr>
          <a:xfrm>
            <a:off x="-927000" y="-375120"/>
            <a:ext cx="3796200" cy="6389640"/>
            <a:chOff x="-927000" y="-375120"/>
            <a:chExt cx="3796200" cy="6389640"/>
          </a:xfrm>
        </p:grpSpPr>
        <p:sp>
          <p:nvSpPr>
            <p:cNvPr id="136" name=""/>
            <p:cNvSpPr/>
            <p:nvPr/>
          </p:nvSpPr>
          <p:spPr>
            <a:xfrm rot="5400000">
              <a:off x="459720" y="-221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1144440" y="-213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 rot="5400000">
              <a:off x="-231480" y="450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448200" y="456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 rot="5400000">
              <a:off x="438840" y="1140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1124280" y="1149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-927000" y="1809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 rot="5400000">
              <a:off x="-245520" y="1815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430560" y="1824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 rot="5400000">
              <a:off x="1113480" y="1833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796040" y="1839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-253440" y="24984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 rot="5400000">
              <a:off x="421920" y="2508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rot="5400000">
              <a:off x="-262800" y="31802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-271440" y="38624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 rot="5400000">
              <a:off x="409320" y="3872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rot="5400000">
              <a:off x="-283320" y="45450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399600" y="4554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-291240" y="52282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1070640" y="5248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56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tIns="63360" rIns="108360" bIns="63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7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8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Outline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BA168D2F-1169-47DD-8C78-0C48DCBA03A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7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68" name=""/>
          <p:cNvGrpSpPr/>
          <p:nvPr/>
        </p:nvGrpSpPr>
        <p:grpSpPr>
          <a:xfrm>
            <a:off x="-147240" y="66600"/>
            <a:ext cx="915480" cy="915480"/>
            <a:chOff x="-147240" y="66600"/>
            <a:chExt cx="915480" cy="915480"/>
          </a:xfrm>
        </p:grpSpPr>
        <p:sp>
          <p:nvSpPr>
            <p:cNvPr id="169" name=""/>
            <p:cNvSpPr/>
            <p:nvPr/>
          </p:nvSpPr>
          <p:spPr>
            <a:xfrm flipV="1" rot="5395800">
              <a:off x="219240" y="79812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0" name=""/>
            <p:cNvSpPr/>
            <p:nvPr/>
          </p:nvSpPr>
          <p:spPr>
            <a:xfrm flipV="1" rot="5395800">
              <a:off x="218880" y="43236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1" name=""/>
            <p:cNvSpPr/>
            <p:nvPr/>
          </p:nvSpPr>
          <p:spPr>
            <a:xfrm flipV="1" rot="5395800">
              <a:off x="218520" y="6696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2" name=""/>
            <p:cNvSpPr/>
            <p:nvPr/>
          </p:nvSpPr>
          <p:spPr>
            <a:xfrm flipV="1" rot="5395800">
              <a:off x="584280" y="6624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3" name=""/>
            <p:cNvSpPr/>
            <p:nvPr/>
          </p:nvSpPr>
          <p:spPr>
            <a:xfrm flipV="1" rot="5395800">
              <a:off x="584280" y="43200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4" name=""/>
            <p:cNvSpPr/>
            <p:nvPr/>
          </p:nvSpPr>
          <p:spPr>
            <a:xfrm flipV="1" rot="5395800">
              <a:off x="585000" y="7981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"/>
            <p:cNvSpPr/>
            <p:nvPr/>
          </p:nvSpPr>
          <p:spPr>
            <a:xfrm flipV="1" rot="5395800">
              <a:off x="-146160" y="7984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6" name=""/>
            <p:cNvSpPr/>
            <p:nvPr/>
          </p:nvSpPr>
          <p:spPr>
            <a:xfrm flipV="1" rot="5395800">
              <a:off x="-146880" y="43308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-146880" y="6696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78" name=""/>
          <p:cNvGrpSpPr/>
          <p:nvPr/>
        </p:nvGrpSpPr>
        <p:grpSpPr>
          <a:xfrm>
            <a:off x="9545040" y="4643280"/>
            <a:ext cx="549720" cy="915480"/>
            <a:chOff x="9545040" y="4643280"/>
            <a:chExt cx="549720" cy="915480"/>
          </a:xfrm>
        </p:grpSpPr>
        <p:sp>
          <p:nvSpPr>
            <p:cNvPr id="179" name=""/>
            <p:cNvSpPr/>
            <p:nvPr/>
          </p:nvSpPr>
          <p:spPr>
            <a:xfrm flipV="1" rot="5395800">
              <a:off x="9911520" y="537444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9911160" y="500904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9910440" y="464292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9545400" y="537516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9545400" y="500904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9545040" y="464328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85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E03E984-6780-43A1-8963-347D69AFECD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7"/>
    <p:sldLayoutId id="2147483668" r:id="rId18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8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1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2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3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F35C40B-7A59-470E-85CE-15905773062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0" y="4341600"/>
            <a:ext cx="7380000" cy="7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r">
              <a:buNone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omfortaa SemiBold"/>
              </a:rPr>
              <a:t>Artificial Intelligence in Healthcare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360000" y="4983120"/>
            <a:ext cx="70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p>
            <a:pPr indent="0" algn="r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More than an Idea in 2026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3" name=""/>
          <p:cNvSpPr/>
          <p:nvPr/>
        </p:nvSpPr>
        <p:spPr>
          <a:xfrm>
            <a:off x="7592400" y="4692600"/>
            <a:ext cx="1828800" cy="457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Muhammad Hashir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26K-0057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61C6BBD-9B39-4D66-BD5E-D173BB68BFFD}" type="datetime1">
              <a:rPr lang="en-US"/>
              <a:t>09/08/26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omfortaa SemiBold"/>
              </a:rPr>
              <a:t>AI Assisted Problem Solving</a:t>
            </a:r>
            <a:endParaRPr lang="en-US" sz="40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66920" y="1872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AI/ML Algorithms work best in identifying Patterns.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Pattern identification is 1</a:t>
            </a:r>
            <a:r>
              <a:rPr lang="en-US" sz="2000" b="0" u="none" strike="noStrike" baseline="33000">
                <a:solidFill>
                  <a:srgbClr val="000000"/>
                </a:solidFill>
                <a:effectLst/>
                <a:uFillTx/>
                <a:latin typeface="Comfortaa"/>
              </a:rPr>
              <a:t>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step in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Problem solving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Most Medical Issues are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solved by Pattern Recognition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Fast Recognition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 of Medical Issue leads to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mfortaa"/>
              </a:rPr>
              <a:t>Better Treatment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transition spd="slow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omfortaa SemiBold"/>
              </a:rPr>
              <a:t>Requirements for AI Diagnostics</a:t>
            </a:r>
            <a:endParaRPr lang="en-US" sz="40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685800" y="1537200"/>
            <a:ext cx="2971800" cy="52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p>
            <a:pPr indent="0" algn="r">
              <a:spcBef>
                <a:spcPts val="1417"/>
              </a:spcBef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Medical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Imaging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218" name=""/>
          <p:cNvPicPr/>
          <p:nvPr/>
        </p:nvPicPr>
        <p:blipFill>
          <a:blip r:embed="rId1"/>
          <a:stretch/>
        </p:blipFill>
        <p:spPr>
          <a:xfrm>
            <a:off x="467640" y="3979440"/>
            <a:ext cx="2046600" cy="136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"/>
          <p:cNvSpPr/>
          <p:nvPr/>
        </p:nvSpPr>
        <p:spPr>
          <a:xfrm rot="5400000">
            <a:off x="4727880" y="3977640"/>
            <a:ext cx="1362960" cy="1597680"/>
          </a:xfrm>
          <a:prstGeom prst="parallelogram">
            <a:avLst>
              <a:gd name="adj" fmla="val 4718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0" name=""/>
          <p:cNvSpPr/>
          <p:nvPr/>
        </p:nvSpPr>
        <p:spPr>
          <a:xfrm rot="5400000">
            <a:off x="3895560" y="4246920"/>
            <a:ext cx="1362960" cy="1597680"/>
          </a:xfrm>
          <a:prstGeom prst="parallelogram">
            <a:avLst>
              <a:gd name="adj" fmla="val 4718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6337800" y="1972800"/>
            <a:ext cx="3443400" cy="6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Lab &amp; Test Reports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264600" y="2944800"/>
            <a:ext cx="3429000" cy="67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p>
            <a:pPr indent="0" algn="r">
              <a:spcBef>
                <a:spcPts val="1417"/>
              </a:spcBef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Patient Vitals / EHR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/>
          </p:nvPr>
        </p:nvSpPr>
        <p:spPr>
          <a:xfrm>
            <a:off x="6337800" y="3319200"/>
            <a:ext cx="2529000" cy="6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Genomic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4" name="PlaceHolder 6"/>
          <p:cNvSpPr>
            <a:spLocks noGrp="1"/>
          </p:cNvSpPr>
          <p:nvPr>
            <p:ph/>
          </p:nvPr>
        </p:nvSpPr>
        <p:spPr>
          <a:xfrm>
            <a:off x="2754000" y="3960000"/>
            <a:ext cx="2046600" cy="14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85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5" name="PlaceHolder 7"/>
          <p:cNvSpPr>
            <a:spLocks noGrp="1"/>
          </p:cNvSpPr>
          <p:nvPr>
            <p:ph/>
          </p:nvPr>
        </p:nvSpPr>
        <p:spPr>
          <a:xfrm>
            <a:off x="5040000" y="3960000"/>
            <a:ext cx="2046600" cy="1404000"/>
          </a:xfrm>
          <a:prstGeom prst="rect">
            <a:avLst/>
          </a:prstGeom>
          <a:blipFill rotWithShape="0">
            <a:blip r:embed="rId2"/>
            <a:stretch>
              <a:fillRect l="-6297" t="-794" r="-6297" b="-794"/>
            </a:stretch>
          </a:blipFill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850"/>
              </a:spcBef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6" name=""/>
          <p:cNvSpPr/>
          <p:nvPr/>
        </p:nvSpPr>
        <p:spPr>
          <a:xfrm>
            <a:off x="2743200" y="3989520"/>
            <a:ext cx="2048400" cy="1364760"/>
          </a:xfrm>
          <a:prstGeom prst="rect">
            <a:avLst/>
          </a:prstGeom>
          <a:blipFill rotWithShape="0">
            <a:blip r:embed="rId3"/>
            <a:srcRect/>
            <a:stretch>
              <a:fillRect l="-439" r="-439" b="-96992"/>
            </a:stretch>
          </a:blip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326000" y="3960000"/>
            <a:ext cx="2046600" cy="1404000"/>
          </a:xfrm>
          <a:prstGeom prst="rect">
            <a:avLst/>
          </a:prstGeom>
          <a:blipFill rotWithShape="0">
            <a:blip r:embed="rId4"/>
            <a:stretch>
              <a:fillRect l="-6297" t="-794" r="-6297" b="-794"/>
            </a:stretch>
          </a:blipFill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transition spd="slow">
    <p:wipe dir="l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100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10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1000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Comfortaa SemiBold"/>
              </a:rPr>
              <a:t>Case Study: ERAM</a:t>
            </a:r>
            <a:endParaRPr lang="en-US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53694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Named after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Erum Zafar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, whose personal journey with </a:t>
            </a:r>
            <a:r>
              <a:rPr lang="en-US" sz="1800" b="0" i="1" u="sng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autism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 inspired the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AI Based Screening and Recognition of Autistic People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Use of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Therapeutic </a:t>
            </a:r>
            <a:r>
              <a:rPr lang="en-US" sz="1800" b="1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games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,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speech assistance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,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progress tracking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, &amp; </a:t>
            </a:r>
            <a:r>
              <a:rPr lang="en-US" sz="1800" b="1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multilingual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Chatbot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Bridges the </a:t>
            </a:r>
            <a:r>
              <a:rPr lang="en-US" sz="1800" b="0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gap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 caused by limited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awareness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,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high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 diagnostic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costs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, and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shortage of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specialists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230" name=""/>
          <p:cNvPicPr/>
          <p:nvPr/>
        </p:nvPicPr>
        <p:blipFill>
          <a:blip r:embed="rId1"/>
          <a:stretch/>
        </p:blipFill>
        <p:spPr>
          <a:xfrm>
            <a:off x="7104240" y="1800000"/>
            <a:ext cx="2192040" cy="328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"/>
          <p:cNvSpPr txBox="1"/>
          <p:nvPr/>
        </p:nvSpPr>
        <p:spPr>
          <a:xfrm>
            <a:off x="192600" y="5293800"/>
            <a:ext cx="7086600" cy="230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i="1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Reference: eramapp.tech (Created by FAST Batch 22 Students)</a:t>
            </a:r>
            <a:endParaRPr lang="en-US" sz="1000" b="0" i="1" u="none" strike="noStrike">
              <a:solidFill>
                <a:srgbClr val="000000"/>
              </a:solidFill>
              <a:effectLst/>
              <a:uFillTx/>
              <a:latin typeface="Comfortaa Light"/>
            </a:endParaRPr>
          </a:p>
        </p:txBody>
      </p:sp>
    </p:spTree>
  </p:cSld>
  <p:transition spd="slow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omfortaa SemiBold"/>
              </a:rPr>
              <a:t>Conclusion</a:t>
            </a:r>
            <a:endParaRPr lang="en-US" sz="4000" b="1" u="none" strike="noStrike">
              <a:solidFill>
                <a:srgbClr val="000000"/>
              </a:solidFill>
              <a:effectLst/>
              <a:uFillTx/>
              <a:latin typeface="Comfortaa SemiBold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3924000" y="2052000"/>
            <a:ext cx="4606200" cy="229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just">
              <a:spcBef>
                <a:spcPts val="1417"/>
              </a:spcBef>
              <a:spcAft>
                <a:spcPts val="1134"/>
              </a:spcAft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AI will never replace Medical Judgment It simply Speeds up connecting the links making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Treatment Faster and More Effective.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omfortaa Light"/>
            </a:endParaRPr>
          </a:p>
          <a:p>
            <a:pPr indent="0" algn="just">
              <a:spcBef>
                <a:spcPts val="1417"/>
              </a:spcBef>
              <a:spcAft>
                <a:spcPts val="1134"/>
              </a:spcAft>
              <a:buNone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Tools like ERAM show that AI support can be extended Beyond the Everyday Software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omfortaa Light"/>
              </a:rPr>
              <a:t>Developer’s Office and Into every walk of Life, Including but not limited to Medicine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omfortaa Light"/>
            </a:endParaRPr>
          </a:p>
        </p:txBody>
      </p:sp>
    </p:spTree>
  </p:cSld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Application>LibreOffice/26.2.6.1$Linux_X86_64 LibreOffice_project/620$Build-1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2026-09-07T13:52:12Z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en-US</dc:language>
  <cp:lastModifiedBy/>
  <dcterms:modified xsi:type="dcterms:W3CDTF">2026-09-08T19:51:50Z</dcterms:modified>
  <cp:revision>13</cp:revision>
  <dc:subject/>
  <dc:title>Grey Elegant</dc:title>
</cp:coreProperties>
</file>